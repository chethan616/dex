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415275"/>
            <a:ext cx="2286000" cy="6324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417320"/>
            <a:ext cx="10360152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595959"/>
                </a:solidFill>
                <a:latin typeface="Times New Roman"/>
              </a:rPr>
              <a:t>B.Tech. Computer Science and Engineering  |  Project Review</a:t>
            </a:r>
          </a:p>
          <a:p>
            <a:pPr algn="ctr">
              <a:spcBef>
                <a:spcPts val="1400"/>
              </a:spcBef>
            </a:pPr>
            <a:r>
              <a:rPr sz="4800" b="1" i="0">
                <a:solidFill>
                  <a:srgbClr val="1F3864"/>
                </a:solidFill>
                <a:latin typeface="Times New Roman"/>
              </a:rPr>
              <a:t>DEX</a:t>
            </a:r>
          </a:p>
          <a:p>
            <a:pPr algn="ctr">
              <a:spcBef>
                <a:spcPts val="600"/>
              </a:spcBef>
            </a:pPr>
            <a:r>
              <a:rPr sz="2200" b="1" i="0">
                <a:solidFill>
                  <a:srgbClr val="1F3864"/>
                </a:solidFill>
                <a:latin typeface="Times New Roman"/>
              </a:rPr>
              <a:t>A Multi-Agent Framework for Desktop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60520"/>
            <a:ext cx="76169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Times New Roman"/>
              </a:rPr>
              <a:t>Team members: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Times New Roman"/>
              </a:rPr>
              <a:t>Chethan Krishna M.   (23BAI0093)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Times New Roman"/>
              </a:rPr>
              <a:t>Gopi Adithya S   (23BAI0122)</a:t>
            </a:r>
          </a:p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Times New Roman"/>
              </a:rPr>
              <a:t>Sriram Madala   (23BCE2115)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595959"/>
                </a:solidFill>
                <a:latin typeface="Times New Roman"/>
              </a:rPr>
              <a:t>Faculty guides: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Times New Roman"/>
              </a:rPr>
              <a:t>Dr. Gayathri P   —   guide for Chethan Krishna M. and Gopi Adithya S</a:t>
            </a:r>
          </a:p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Times New Roman"/>
              </a:rPr>
              <a:t>Dr. Bhoominathan P   —   guide for Sriram Madala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400800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Times New Roman"/>
              </a:rPr>
              <a:t>School of Computer Science and Engineering (SCOPE), VIT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Times New Roman"/>
              </a:rPr>
              <a:t>Background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Computer-use agents built on LLMs can already operate software — but most take over the screen, mouse and keyboard while they work, and are built and tested inside virtual machines that belong to the agent, not the user.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</a:rPr>
              <a:t>●  The user's time</a:t>
            </a:r>
          </a:p>
          <a:p>
            <a:pPr algn="l" lvl="1"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–  An agent that takes over a PC for ten minutes saves nothing if the owner has to sit and watch. DEX is meant to keep working while the user types, browses or watches a video.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</a:rPr>
              <a:t>●  Speed and reliability</a:t>
            </a:r>
          </a:p>
          <a:p>
            <a:pPr algn="l" lvl="1"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–  A screenshot loop sends an image to a model every step. Windows already exposes most programs through UI Automation and system APIs — faster and less ambiguous than pixels.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</a:rPr>
              <a:t>●  Trust</a:t>
            </a:r>
          </a:p>
          <a:p>
            <a:pPr algn="l" lvl="1"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–  An early DEX prototype showed that simply raising a window could deliver a synthetic click to a confirmation card nobody had touched — a timeout couldn't tell it from a real click, but pointer movement could.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</a:rPr>
              <a:t>●  People aren't always at their desks</a:t>
            </a:r>
          </a:p>
          <a:p>
            <a:pPr algn="l" lvl="1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–  A task should be startable from a phone, approved from a notification, or sent through a chat app.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Times New Roman"/>
              </a:rPr>
              <a:t>VIT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Times New Roman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1088136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0"/>
              </a:spcAft>
            </a:pPr>
            <a:r>
              <a:rPr sz="1800" b="1" i="0">
                <a:solidFill>
                  <a:srgbClr val="1F3864"/>
                </a:solidFill>
                <a:latin typeface="Times New Roman"/>
              </a:rPr>
              <a:t>1.  </a:t>
            </a:r>
            <a:r>
              <a:rPr sz="1800" b="0" i="0">
                <a:solidFill>
                  <a:srgbClr val="1A1A1A"/>
                </a:solidFill>
                <a:latin typeface="Times New Roman"/>
              </a:rPr>
              <a:t>Design a task model where every task gets its own agent and workspace (chat, browser tabs, documents, logs), several run in parallel, and the engine behind each agent can be swapped.</a:t>
            </a:r>
          </a:p>
          <a:p>
            <a:pPr>
              <a:spcAft>
                <a:spcPts val="3000"/>
              </a:spcAft>
            </a:pPr>
            <a:r>
              <a:rPr sz="1800" b="1" i="0">
                <a:solidFill>
                  <a:srgbClr val="1F3864"/>
                </a:solidFill>
                <a:latin typeface="Times New Roman"/>
              </a:rPr>
              <a:t>2.  </a:t>
            </a:r>
            <a:r>
              <a:rPr sz="1800" b="0" i="0">
                <a:solidFill>
                  <a:srgbClr val="1A1A1A"/>
                </a:solidFill>
                <a:latin typeface="Times New Roman"/>
              </a:rPr>
              <a:t>Build background execution that never takes the user's screen, focus or input while they're active.</a:t>
            </a:r>
          </a:p>
          <a:p>
            <a:pPr>
              <a:spcAft>
                <a:spcPts val="3000"/>
              </a:spcAft>
            </a:pPr>
            <a:r>
              <a:rPr sz="1800" b="1" i="0">
                <a:solidFill>
                  <a:srgbClr val="1F3864"/>
                </a:solidFill>
                <a:latin typeface="Times New Roman"/>
              </a:rPr>
              <a:t>3.  </a:t>
            </a:r>
            <a:r>
              <a:rPr sz="1800" b="0" i="0">
                <a:solidFill>
                  <a:srgbClr val="1A1A1A"/>
                </a:solidFill>
                <a:latin typeface="Times New Roman"/>
              </a:rPr>
              <a:t>Connect agents to the user's online services through MCP with one-click OAuth sign-in, and let them use Chrome extensions.</a:t>
            </a:r>
          </a:p>
          <a:p>
            <a:pPr>
              <a:spcAft>
                <a:spcPts val="3000"/>
              </a:spcAft>
            </a:pPr>
            <a:r>
              <a:rPr sz="1800" b="1" i="0">
                <a:solidFill>
                  <a:srgbClr val="1F3864"/>
                </a:solidFill>
                <a:latin typeface="Times New Roman"/>
              </a:rPr>
              <a:t>4.  </a:t>
            </a:r>
            <a:r>
              <a:rPr sz="1800" b="0" i="0">
                <a:solidFill>
                  <a:srgbClr val="1A1A1A"/>
                </a:solidFill>
                <a:latin typeface="Times New Roman"/>
              </a:rPr>
              <a:t>Enforce safety outside the model: approval categories, off-limit applications, secret handling and undo.</a:t>
            </a:r>
          </a:p>
          <a:p>
            <a:pPr>
              <a:spcAft>
                <a:spcPts val="3000"/>
              </a:spcAft>
            </a:pPr>
            <a:r>
              <a:rPr sz="1800" b="1" i="0">
                <a:solidFill>
                  <a:srgbClr val="1F3864"/>
                </a:solidFill>
                <a:latin typeface="Times New Roman"/>
              </a:rPr>
              <a:t>5.  </a:t>
            </a:r>
            <a:r>
              <a:rPr sz="1800" b="0" i="0">
                <a:solidFill>
                  <a:srgbClr val="1A1A1A"/>
                </a:solidFill>
                <a:latin typeface="Times New Roman"/>
              </a:rPr>
              <a:t>Make DEX usable from a phone and from chat apps, with answers shown as interactive cards.</a:t>
            </a:r>
          </a:p>
          <a:p>
            <a:pPr>
              <a:spcAft>
                <a:spcPts val="3000"/>
              </a:spcAft>
            </a:pPr>
            <a:r>
              <a:rPr sz="1800" b="1" i="0">
                <a:solidFill>
                  <a:srgbClr val="1F3864"/>
                </a:solidFill>
                <a:latin typeface="Times New Roman"/>
              </a:rPr>
              <a:t>6.  </a:t>
            </a:r>
            <a:r>
              <a:rPr sz="1800" b="0" i="0">
                <a:solidFill>
                  <a:srgbClr val="1A1A1A"/>
                </a:solidFill>
                <a:latin typeface="Times New Roman"/>
              </a:rPr>
              <a:t>Evaluate DEX on tasks checked by scripts, against the same engines run without DEX.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Times New Roman"/>
              </a:rPr>
              <a:t>VIT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595959"/>
                </a:solidFill>
                <a:latin typeface="Times New Roman"/>
              </a:rPr>
              <a:t>Five layers, with safety and routing policy held outside the agent's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Times New Roman"/>
              </a:rPr>
              <a:t>●  User layer — the desktop hub (React), the Android app, and chat apps.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Times New Roman"/>
              </a:rPr>
              <a:t>●  Electron main process — holds all state and policy: sessions, approvals, channel router, memory, connector sign-in, the MCP catalog and the CDP broker.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Times New Roman"/>
              </a:rPr>
              <a:t>●  Engine layer — one coding-agent CLI (Claude Code, Codex or BrowserCode) spawned per task as the planner; agents can start sub-agents of their own.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Times New Roman"/>
              </a:rPr>
              <a:t>●  Tool layer — browser tabs, the Windows control server, built-in MCP servers and hosted connectors, all working in the background.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A1A1A"/>
                </a:solidFill>
                <a:latin typeface="Times New Roman"/>
              </a:rPr>
              <a:t>●  Outside DEX — the websites, Windows applications and cloud services the tools reach.</a:t>
            </a:r>
          </a:p>
        </p:txBody>
      </p:sp>
      <p:pic>
        <p:nvPicPr>
          <p:cNvPr id="5" name="Picture 4" descr="fig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72943"/>
            <a:ext cx="5897880" cy="4426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Times New Roman"/>
              </a:rPr>
              <a:t>VIT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Times New Roman"/>
              </a:rPr>
              <a:t>Staying Out of the User's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595959"/>
                </a:solidFill>
                <a:latin typeface="Times New Roman"/>
              </a:rPr>
              <a:t>A fixed order of preference, so the agent reaches for pixels only as a last resort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1A1A1A"/>
                </a:solidFill>
                <a:latin typeface="Times New Roman"/>
              </a:rPr>
              <a:t>●  1. An OS or application interface where one exists (PowerShell, CIM, APIs).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1A1A1A"/>
                </a:solidFill>
                <a:latin typeface="Times New Roman"/>
              </a:rPr>
              <a:t>●  2. A UI Automation pattern on the target window, wherever it is — with AutoSetFocus off, so even reading a background window can't pull it to the front.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1A1A1A"/>
                </a:solidFill>
                <a:latin typeface="Times New Roman"/>
              </a:rPr>
              <a:t>●  3. Borrowed input, only as a last resort — tagged with a private marker (0x44455821, “DEX!”), watched by low-level hooks, released the instant the user moves.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1A1A1A"/>
                </a:solidFill>
                <a:latin typeface="Times New Roman"/>
              </a:rPr>
              <a:t>●  Browser tabs render off-screen on a shared “stage” window and are reached through a CDP broker that hands each task a scoped token — never an open debugging port.</a:t>
            </a:r>
          </a:p>
        </p:txBody>
      </p:sp>
      <p:pic>
        <p:nvPicPr>
          <p:cNvPr id="5" name="Picture 4" descr="fig-bro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459748"/>
            <a:ext cx="5623560" cy="27614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Times New Roman"/>
              </a:rPr>
              <a:t>VIT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Times New Roman"/>
              </a:rPr>
              <a:t>Safety Enforced Outside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08760"/>
            <a:ext cx="594360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1A1A1A"/>
                </a:solidFill>
                <a:latin typeface="Times New Roman"/>
              </a:rPr>
              <a:t>●  Approval cards are decided outside the engine's reach — the tool server blocks and asks the main process, so the agent can neither skip the wait nor answer its own card.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1A1A1A"/>
                </a:solidFill>
                <a:latin typeface="Times New Roman"/>
              </a:rPr>
              <a:t>●  Each action carries a category (app control, system change, hard to undo, admin rights); DEX's Windows tools refuse any window that belongs to DEX itself.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1A1A1A"/>
                </a:solidFill>
                <a:latin typeface="Times New Roman"/>
              </a:rPr>
              <a:t>●  System changes run through a closed 25-action allowlist, each one recorded in an undo journal before it runs.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●  A real gap found during testing</a:t>
            </a:r>
          </a:p>
          <a:p>
            <a:pPr algn="l" lvl="1"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Times New Roman"/>
              </a:rPr>
              <a:t>–  The user denied a File-Explorer approval card; the model then emptied the Recycle Bin anyway, through PowerShell and a COM object — because the engine's own shell sits outside DEX's approval gate. Closing that gap is on the future-work list.</a:t>
            </a:r>
          </a:p>
        </p:txBody>
      </p:sp>
      <p:pic>
        <p:nvPicPr>
          <p:cNvPr id="4" name="Picture 3" descr="c-ap-deni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613816"/>
            <a:ext cx="5029200" cy="21790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5257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Times New Roman"/>
              </a:rPr>
              <a:t>After the denial, the model reached the same outcome through PowerShell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Times New Roman"/>
              </a:rPr>
              <a:t>VIT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Times New Roman"/>
              </a:rPr>
              <a:t>Tech Stack and Scale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508760"/>
          <a:ext cx="6583679" cy="32369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96043"/>
                <a:gridCol w="4987636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Layer</a:t>
                      </a: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Technology</a:t>
                      </a: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Desktop app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Electron 41.2.1, React 19.2.5, TypeScript 5.6.3, Vite 6.4.2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Agent engines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Claude Code CLI, OpenAI Codex CLI, BrowserCode (built on OpenCode)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Windows control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PowerShell 5.1 host + C# (UI Automation via COM, SendInput, low-level hooks)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Mobile app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Kotlin, Jetpack Compose, Material 3 Expressive, Firebase Auth + Firestore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Storage / secrets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SQLite (tasks), JSON files (memory, routines), Windows Credential Manager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Testing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Vitest, ESLint, Robolectric (Android screenshots), DEX-Bench checkers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52360" y="150876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1F3864"/>
                </a:solidFill>
                <a:latin typeface="Times New Roman"/>
              </a:rPr>
              <a:t>159,556</a:t>
            </a:r>
          </a:p>
          <a:p>
            <a:pPr algn="ctr">
              <a:spcBef>
                <a:spcPts val="200"/>
              </a:spcBef>
            </a:pPr>
            <a:r>
              <a:rPr sz="1200" b="0" i="0">
                <a:solidFill>
                  <a:srgbClr val="595959"/>
                </a:solidFill>
                <a:latin typeface="Times New Roman"/>
              </a:rPr>
              <a:t>lines of tracked source
(desktop + MCP servers, tests, Android)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306324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1F3864"/>
                </a:solidFill>
                <a:latin typeface="Times New Roman"/>
              </a:rPr>
              <a:t>473</a:t>
            </a:r>
          </a:p>
          <a:p>
            <a:pPr algn="ctr">
              <a:spcBef>
                <a:spcPts val="200"/>
              </a:spcBef>
            </a:pPr>
            <a:r>
              <a:rPr sz="1200" b="0" i="0">
                <a:solidFill>
                  <a:srgbClr val="595959"/>
                </a:solidFill>
                <a:latin typeface="Times New Roman"/>
              </a:rPr>
              <a:t>git commits, 3 Jun – 20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461772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1F3864"/>
                </a:solidFill>
                <a:latin typeface="Times New Roman"/>
              </a:rPr>
              <a:t>51</a:t>
            </a:r>
          </a:p>
          <a:p>
            <a:pPr algn="ctr">
              <a:spcBef>
                <a:spcPts val="200"/>
              </a:spcBef>
            </a:pPr>
            <a:r>
              <a:rPr sz="1200" b="0" i="0">
                <a:solidFill>
                  <a:srgbClr val="595959"/>
                </a:solidFill>
                <a:latin typeface="Times New Roman"/>
              </a:rPr>
              <a:t>hosted MCP connectors + built-in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Times New Roman"/>
              </a:rPr>
              <a:t>VIT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Times New Roman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Times New Roman"/>
              </a:rPr>
              <a:t>Features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595959"/>
                </a:solidFill>
                <a:latin typeface="Times New Roman"/>
              </a:rPr>
              <a:t>Real tasks recorded on the development PC and phone, 7–21 October 2026</a:t>
            </a:r>
          </a:p>
        </p:txBody>
      </p:sp>
      <p:pic>
        <p:nvPicPr>
          <p:cNvPr id="4" name="Picture 3" descr="c-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78" y="1600200"/>
            <a:ext cx="5383283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92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Times New Roman"/>
              </a:rPr>
              <a:t>The hub: running, waiting and finished tasks</a:t>
            </a:r>
          </a:p>
        </p:txBody>
      </p:sp>
      <p:pic>
        <p:nvPicPr>
          <p:cNvPr id="6" name="Picture 5" descr="c-gh-fi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600200"/>
            <a:ext cx="5193792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72200" y="4892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Times New Roman"/>
              </a:rPr>
              <a:t>GitHub Trending answered as cards, from a background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8640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595959"/>
                </a:solidFill>
                <a:latin typeface="Times New Roman"/>
              </a:rPr>
              <a:t>Also demonstrated: flights and calendar via one-click connectors, a mail-triage card, a memory-driven chart widget, Notepad driven through UI Automation, and a 3D scene modelled in a windowless Blender.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Times New Roman"/>
              </a:rPr>
              <a:t>VIT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Times New Roman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Times New Roman"/>
              </a:rPr>
              <a:t>DEX-Bench: The Finished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595959"/>
                </a:solidFill>
                <a:latin typeface="Times New Roman"/>
              </a:rPr>
              <a:t>24 everyday Windows / web / document tasks, each scored by a script reading the end state — OSWorld's method, on a real PC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28800"/>
          <a:ext cx="6583679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01844"/>
                <a:gridCol w="1032734"/>
                <a:gridCol w="154910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Configuration</a:t>
                      </a: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Passed</a:t>
                      </a: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Median time / task</a:t>
                      </a: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DEX, Claude Code engine (Claude Opus 5.5)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24 / 24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39 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Claude Code CLI alone (Claude Opus 5.5)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24 / 24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25.5 s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DEX, Codex engine (gpt-6-luna)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20 / 24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46 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Codex CLI alone (gpt-6-luna)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19 / 24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/>
                        </a:rPr>
                        <a:t>32.5 s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06640" y="1828800"/>
            <a:ext cx="4251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1F3864"/>
                </a:solidFill>
                <a:latin typeface="Times New Roman"/>
              </a:rPr>
              <a:t>24 / 24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595959"/>
                </a:solidFill>
                <a:latin typeface="Times New Roman"/>
              </a:rPr>
              <a:t>DEX, Claude Opus 5.5 — every task passed</a:t>
            </a:r>
          </a:p>
        </p:txBody>
      </p:sp>
      <p:pic>
        <p:nvPicPr>
          <p:cNvPr id="6" name="Picture 5" descr="fig-bench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692" y="3977639"/>
            <a:ext cx="6886135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Times New Roman"/>
              </a:rPr>
              <a:t>VIT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Times New Roman"/>
              </a:rPr>
              <a:t>Real-World Usage and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595959"/>
                </a:solidFill>
                <a:latin typeface="Times New Roman"/>
              </a:rPr>
              <a:t>162 tasks recorded on the development PC, 30 September – 21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1A1A1A"/>
                </a:solidFill>
                <a:latin typeface="Times New Roman"/>
              </a:rPr>
              <a:t>●  45 everyday / demo tasks (outside the benchmark) made 802 tool calls; the median task took 9 tool calls.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1A1A1A"/>
                </a:solidFill>
                <a:latin typeface="Times New Roman"/>
              </a:rPr>
              <a:t>●  17 of those 45 tasks were started from the phone.</a:t>
            </a:r>
          </a:p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3864"/>
                </a:solidFill>
                <a:latin typeface="Times New Roman"/>
              </a:rPr>
              <a:t>●  Call latency follows the design's preference order:</a:t>
            </a:r>
          </a:p>
          <a:p>
            <a:pPr algn="l" lvl="1">
              <a:spcAft>
                <a:spcPts val="800"/>
              </a:spcAft>
            </a:pPr>
            <a:r>
              <a:rPr sz="1350" b="0" i="0">
                <a:solidFill>
                  <a:srgbClr val="1A1A1A"/>
                </a:solidFill>
                <a:latin typeface="Times New Roman"/>
              </a:rPr>
              <a:t>–  File operations, median 0.07 s  •  UI Automation, 0.22 s  •  shell commands, 0.30 s  •  browser calls, 0.99 s  •  online connectors, 1.81 s.</a:t>
            </a:r>
          </a:p>
          <a:p>
            <a:pPr algn="l">
              <a:spcAft>
                <a:spcPts val="200"/>
              </a:spcAft>
            </a:pPr>
            <a:r>
              <a:rPr sz="1450" b="0" i="0">
                <a:solidFill>
                  <a:srgbClr val="1A1A1A"/>
                </a:solidFill>
                <a:latin typeface="Times New Roman"/>
              </a:rPr>
              <a:t>●  A flight search through a connector took 5 tool calls, versus 23 for the same task driven earlier through a browser.</a:t>
            </a:r>
          </a:p>
        </p:txBody>
      </p:sp>
      <p:pic>
        <p:nvPicPr>
          <p:cNvPr id="5" name="Picture 4" descr="fig-tool-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753766"/>
            <a:ext cx="5623560" cy="2070307"/>
          </a:xfrm>
          <a:prstGeom prst="rect">
            <a:avLst/>
          </a:prstGeom>
        </p:spPr>
      </p:pic>
      <p:pic>
        <p:nvPicPr>
          <p:cNvPr id="6" name="Picture 5" descr="fig-tool-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808" y="3931920"/>
            <a:ext cx="5541463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Times New Roman"/>
              </a:rPr>
              <a:t>VIT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Times New Roman"/>
              </a:rPr>
              <a:t>Challenges Faced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200"/>
              </a:spcAft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●  Injected clicks. Raising a window on Windows could deliver a synthetic click to an untouched confirmation card; a timeout couldn't tell it from a real click (it arrived 0 ms–1.2 s later), but pointer movement could — fixed with a real-movement guard.</a:t>
            </a:r>
          </a:p>
          <a:p>
            <a:pPr algn="l">
              <a:spcAft>
                <a:spcPts val="2200"/>
              </a:spcAft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●  An open debugging port exposed every DEX window, approval cards included, to the agent's own shell — replaced with a CDP broker issuing one scoped token per task.</a:t>
            </a:r>
          </a:p>
          <a:p>
            <a:pPr algn="l">
              <a:spcAft>
                <a:spcPts val="2200"/>
              </a:spcAft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●  “Browser pool full” after ten benchmark tasks — fixed by freezing idle tasks and evicting the least-recently-used idle browser from the ten-task pool.</a:t>
            </a:r>
          </a:p>
          <a:p>
            <a:pPr algn="l">
              <a:spcAft>
                <a:spcPts val="2200"/>
              </a:spcAft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●  A relaunched Store app (Calculator) could jump to the foreground by itself; the take-over guard then mistook it for the user's window and refused DEX's own clicks.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●  The approval gate covers DEX's own tools but not the engine's shell — a model routed around a denied action through PowerShell (Recycle Bin incident, previous slide).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Times New Roman"/>
              </a:rPr>
              <a:t>VIT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400"/>
              </a:spcAft>
            </a:pPr>
            <a:r>
              <a:rPr sz="1800" b="0" i="0">
                <a:solidFill>
                  <a:srgbClr val="1A1A1A"/>
                </a:solidFill>
                <a:latin typeface="Times New Roman"/>
              </a:rPr>
              <a:t>DEX is an open-source multi-agent framework that carries out tasks on a Windows PC while its owner keeps using it, reachable from an Android phone and from chat apps.</a:t>
            </a:r>
          </a:p>
          <a:p>
            <a:pPr algn="l">
              <a:spcAft>
                <a:spcPts val="18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●  A layered background-execution order: APIs first, then accessibility patterns on parked windows, then tagged and watched borrowed input, released on the user's first move.</a:t>
            </a:r>
          </a:p>
          <a:p>
            <a:pPr algn="l">
              <a:spcAft>
                <a:spcPts val="18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●  Parallel task agents, each with its own workspace, an interchangeable engine, and sub-agents tracked separately.</a:t>
            </a:r>
          </a:p>
          <a:p>
            <a:pPr algn="l">
              <a:spcAft>
                <a:spcPts val="18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●  A per-task browser workspace reached through a token broker, with usable Chrome extensions.</a:t>
            </a:r>
          </a:p>
          <a:p>
            <a:pPr algn="l">
              <a:spcAft>
                <a:spcPts val="18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●  One-click MCP connectors to 51 hosted services, plus safety checks enforced in DEX's own tools — with a documented account of where they still fall short.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Times New Roman"/>
              </a:rPr>
              <a:t>●  DEX-Bench: 24 tasks, scripted end-state checks, run against the bare engines. DEX completed everyday Windows, web and document tasks at least as reliably as the engines it wraps — its main benefit is on a PC someone is still using.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Times New Roman"/>
              </a:rPr>
              <a:t>VIT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Times New Roman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1064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400"/>
              </a:spcAft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●  Close the approval gap by routing the engine's shell through DEX's approval policy, or by running the engine with rights that cannot reach what the user denied.</a:t>
            </a:r>
          </a:p>
          <a:p>
            <a:pPr algn="l">
              <a:spcAft>
                <a:spcPts val="2400"/>
              </a:spcAft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●  Measure non-interference directly, by recording the user's input and foreground changes during benchmark runs.</a:t>
            </a:r>
          </a:p>
          <a:p>
            <a:pPr algn="l">
              <a:spcAft>
                <a:spcPts val="2400"/>
              </a:spcAft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●  Run each benchmark configuration several times from a cleared browser profile, verify that Windows-app tasks really used the app, and add tasks written outside the project.</a:t>
            </a:r>
          </a:p>
          <a:p>
            <a:pPr algn="l">
              <a:spcAft>
                <a:spcPts val="2400"/>
              </a:spcAft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●  Add a launch grace period for Store apps, fix the one timing-sensitive test, and add signed approval payloads with a real-pointer guard on the desktop cards.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Times New Roman"/>
              </a:rPr>
              <a:t>●  Profile where DEX's extra time per task goes, test Telegram and Discord with real bots, and move the Android app from internal testing to a public Play Store release.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Times New Roman"/>
              </a:rPr>
              <a:t>VIT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3864"/>
                </a:solidFill>
                <a:latin typeface="Times New Roman"/>
              </a:rPr>
              <a:t>Team and Guides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828800"/>
          <a:ext cx="10881360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1554480"/>
                <a:gridCol w="466344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Reg. No.</a:t>
                      </a: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Degree / Specialization</a:t>
                      </a: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Guide</a:t>
                      </a:r>
                    </a:p>
                  </a:txBody>
                  <a:tcPr marL="64008" marR="45720" marT="18288" marB="18288" anchor="ctr">
                    <a:solidFill>
                      <a:srgbClr val="1F3864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Chethan Krishna M.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23BAI0093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B.Tech. CSE (Artificial Intelligence and Machine Learning)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Dr. Gayathri P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Gopi Adithya S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23BAI0122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B.Tech. CSE (Artificial Intelligence and Machine Learning)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Dr. Gayathri P</a:t>
                      </a:r>
                    </a:p>
                  </a:txBody>
                  <a:tcPr marL="64008" marR="45720" marT="18288" marB="18288" anchor="ctr">
                    <a:solidFill>
                      <a:srgbClr val="F2F4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Sriram Madala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23BCE2115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B.Tech. Computer Science and Engineering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A1A1A"/>
                          </a:solidFill>
                          <a:latin typeface="Times New Roman"/>
                        </a:rPr>
                        <a:t>Dr. Bhoominathan P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595959"/>
                </a:solidFill>
                <a:latin typeface="Times New Roman"/>
              </a:rPr>
              <a:t>School of Computer Science and Engineering (SCOPE), VIT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Times New Roman"/>
              </a:rPr>
              <a:t>VIT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60152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1F3864"/>
                </a:solidFill>
                <a:latin typeface="Times New Roman"/>
              </a:rPr>
              <a:t>Thank You</a:t>
            </a:r>
          </a:p>
          <a:p>
            <a:pPr algn="ctr">
              <a:spcBef>
                <a:spcPts val="1600"/>
              </a:spcBef>
            </a:pPr>
            <a:r>
              <a:rPr sz="1800" b="0" i="1">
                <a:solidFill>
                  <a:srgbClr val="595959"/>
                </a:solidFill>
                <a:latin typeface="Times New Roman"/>
              </a:rPr>
              <a:t>Questions and discussion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Times New Roman"/>
              </a:rPr>
              <a:t>github.com/Chethan616/Dex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